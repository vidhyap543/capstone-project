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6" autoAdjust="0"/>
    <p:restoredTop sz="94660"/>
  </p:normalViewPr>
  <p:slideViewPr>
    <p:cSldViewPr snapToGrid="0">
      <p:cViewPr varScale="1">
        <p:scale>
          <a:sx n="36" d="100"/>
          <a:sy n="36" d="100"/>
        </p:scale>
        <p:origin x="52"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88EBEC-CADC-4926-8755-2733555F54CD}"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388971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88EBEC-CADC-4926-8755-2733555F54CD}"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1556066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88EBEC-CADC-4926-8755-2733555F54CD}"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928069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88EBEC-CADC-4926-8755-2733555F54CD}"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886434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88EBEC-CADC-4926-8755-2733555F54CD}" type="datetimeFigureOut">
              <a:rPr lang="en-IN" smtClean="0"/>
              <a:t>04-07-2026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3961401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88EBEC-CADC-4926-8755-2733555F54CD}" type="datetimeFigureOut">
              <a:rPr lang="en-IN" smtClean="0"/>
              <a:t>04-07-2026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730216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88EBEC-CADC-4926-8755-2733555F54CD}" type="datetimeFigureOut">
              <a:rPr lang="en-IN" smtClean="0"/>
              <a:t>04-07-2026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165830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88EBEC-CADC-4926-8755-2733555F54CD}"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721559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88EBEC-CADC-4926-8755-2733555F54CD}"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3502248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88EBEC-CADC-4926-8755-2733555F54CD}"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23520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88EBEC-CADC-4926-8755-2733555F54CD}"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81DFF-32B8-4D18-AAE0-5BE863AC49A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1104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88EBEC-CADC-4926-8755-2733555F54CD}"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3925670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88EBEC-CADC-4926-8755-2733555F54CD}"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81DFF-32B8-4D18-AAE0-5BE863AC49A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694929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88EBEC-CADC-4926-8755-2733555F54CD}"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1396551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88EBEC-CADC-4926-8755-2733555F54CD}"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10302338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88EBEC-CADC-4926-8755-2733555F54CD}"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81DFF-32B8-4D18-AAE0-5BE863AC49A6}" type="slidenum">
              <a:rPr lang="en-IN" smtClean="0"/>
              <a:t>‹#›</a:t>
            </a:fld>
            <a:endParaRPr lang="en-IN"/>
          </a:p>
        </p:txBody>
      </p:sp>
    </p:spTree>
    <p:extLst>
      <p:ext uri="{BB962C8B-B14F-4D97-AF65-F5344CB8AC3E}">
        <p14:creationId xmlns:p14="http://schemas.microsoft.com/office/powerpoint/2010/main" val="1654111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A88EBEC-CADC-4926-8755-2733555F54CD}" type="datetimeFigureOut">
              <a:rPr lang="en-IN" smtClean="0"/>
              <a:t>04-07-2026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3981DFF-32B8-4D18-AAE0-5BE863AC49A6}" type="slidenum">
              <a:rPr lang="en-IN" smtClean="0"/>
              <a:t>‹#›</a:t>
            </a:fld>
            <a:endParaRPr lang="en-IN"/>
          </a:p>
        </p:txBody>
      </p:sp>
    </p:spTree>
    <p:extLst>
      <p:ext uri="{BB962C8B-B14F-4D97-AF65-F5344CB8AC3E}">
        <p14:creationId xmlns:p14="http://schemas.microsoft.com/office/powerpoint/2010/main" val="29973469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66342-6E7E-32C0-C61D-A7DFC2AF16C4}"/>
              </a:ext>
            </a:extLst>
          </p:cNvPr>
          <p:cNvSpPr>
            <a:spLocks noGrp="1"/>
          </p:cNvSpPr>
          <p:nvPr>
            <p:ph type="ctrTitle"/>
          </p:nvPr>
        </p:nvSpPr>
        <p:spPr>
          <a:xfrm>
            <a:off x="-364807" y="1710268"/>
            <a:ext cx="12048566" cy="3477095"/>
          </a:xfrm>
        </p:spPr>
        <p:txBody>
          <a:bodyPr/>
          <a:lstStyle/>
          <a:p>
            <a:pPr algn="ctr"/>
            <a:r>
              <a:rPr lang="en-IN" b="1" dirty="0"/>
              <a:t>Capstone Project &amp; Final Presentation</a:t>
            </a:r>
            <a:br>
              <a:rPr lang="en-IN" b="1" dirty="0"/>
            </a:br>
            <a:endParaRPr lang="en-IN" dirty="0"/>
          </a:p>
        </p:txBody>
      </p:sp>
      <p:sp>
        <p:nvSpPr>
          <p:cNvPr id="3" name="Subtitle 2">
            <a:extLst>
              <a:ext uri="{FF2B5EF4-FFF2-40B4-BE49-F238E27FC236}">
                <a16:creationId xmlns:a16="http://schemas.microsoft.com/office/drawing/2014/main" id="{27CB0078-45BE-6A46-C093-8AF6C96207D9}"/>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80320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2C19B-6E9F-A41E-5FA8-CBF627524F7D}"/>
              </a:ext>
            </a:extLst>
          </p:cNvPr>
          <p:cNvSpPr>
            <a:spLocks noGrp="1"/>
          </p:cNvSpPr>
          <p:nvPr>
            <p:ph type="title"/>
          </p:nvPr>
        </p:nvSpPr>
        <p:spPr/>
        <p:txBody>
          <a:bodyPr/>
          <a:lstStyle/>
          <a:p>
            <a:r>
              <a:rPr lang="en-IN" dirty="0"/>
              <a:t>1. ABSTRACT</a:t>
            </a:r>
          </a:p>
        </p:txBody>
      </p:sp>
      <p:sp>
        <p:nvSpPr>
          <p:cNvPr id="3" name="Content Placeholder 2">
            <a:extLst>
              <a:ext uri="{FF2B5EF4-FFF2-40B4-BE49-F238E27FC236}">
                <a16:creationId xmlns:a16="http://schemas.microsoft.com/office/drawing/2014/main" id="{E685D0A9-26E5-D24C-8F4A-CCD13BAFF83C}"/>
              </a:ext>
            </a:extLst>
          </p:cNvPr>
          <p:cNvSpPr>
            <a:spLocks noGrp="1"/>
          </p:cNvSpPr>
          <p:nvPr>
            <p:ph idx="1"/>
          </p:nvPr>
        </p:nvSpPr>
        <p:spPr/>
        <p:txBody>
          <a:bodyPr>
            <a:normAutofit/>
          </a:bodyPr>
          <a:lstStyle/>
          <a:p>
            <a:r>
              <a:rPr lang="en-US" sz="2400" dirty="0"/>
              <a:t>This project focuses on predicting passenger survival on the Titanic using Machine Learning techniques. The dataset includes passenger information such as age, gender, ticket class, fare, and embarkation point. The objective is to build a classification model that accurately predicts whether a passenger survived or not.</a:t>
            </a:r>
            <a:endParaRPr lang="en-IN" sz="2400" dirty="0"/>
          </a:p>
        </p:txBody>
      </p:sp>
    </p:spTree>
    <p:extLst>
      <p:ext uri="{BB962C8B-B14F-4D97-AF65-F5344CB8AC3E}">
        <p14:creationId xmlns:p14="http://schemas.microsoft.com/office/powerpoint/2010/main" val="2301089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B765E-ADF1-DF4D-4A6D-DC330A25939E}"/>
              </a:ext>
            </a:extLst>
          </p:cNvPr>
          <p:cNvSpPr>
            <a:spLocks noGrp="1"/>
          </p:cNvSpPr>
          <p:nvPr>
            <p:ph type="title"/>
          </p:nvPr>
        </p:nvSpPr>
        <p:spPr/>
        <p:txBody>
          <a:bodyPr/>
          <a:lstStyle/>
          <a:p>
            <a:r>
              <a:rPr lang="en-IN" dirty="0"/>
              <a:t>2. INTRODUCTION</a:t>
            </a:r>
          </a:p>
        </p:txBody>
      </p:sp>
      <p:sp>
        <p:nvSpPr>
          <p:cNvPr id="3" name="Content Placeholder 2">
            <a:extLst>
              <a:ext uri="{FF2B5EF4-FFF2-40B4-BE49-F238E27FC236}">
                <a16:creationId xmlns:a16="http://schemas.microsoft.com/office/drawing/2014/main" id="{9543EAD2-D022-51CE-8451-036A61C7B349}"/>
              </a:ext>
            </a:extLst>
          </p:cNvPr>
          <p:cNvSpPr>
            <a:spLocks noGrp="1"/>
          </p:cNvSpPr>
          <p:nvPr>
            <p:ph idx="1"/>
          </p:nvPr>
        </p:nvSpPr>
        <p:spPr/>
        <p:txBody>
          <a:bodyPr>
            <a:normAutofit/>
          </a:bodyPr>
          <a:lstStyle/>
          <a:p>
            <a:r>
              <a:rPr lang="en-US" sz="2400" dirty="0"/>
              <a:t>The Titanic disaster is one of the most famous shipwrecks in history. Machine Learning can be applied to analyze passenger data and identify patterns that influenced survival. This project demonstrates how classification algorithms can be used in real-world datasets</a:t>
            </a:r>
            <a:endParaRPr lang="en-IN" sz="2400" dirty="0"/>
          </a:p>
        </p:txBody>
      </p:sp>
    </p:spTree>
    <p:extLst>
      <p:ext uri="{BB962C8B-B14F-4D97-AF65-F5344CB8AC3E}">
        <p14:creationId xmlns:p14="http://schemas.microsoft.com/office/powerpoint/2010/main" val="2574849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D098E-DFBB-FD55-B534-A67C07970293}"/>
              </a:ext>
            </a:extLst>
          </p:cNvPr>
          <p:cNvSpPr>
            <a:spLocks noGrp="1"/>
          </p:cNvSpPr>
          <p:nvPr>
            <p:ph type="title"/>
          </p:nvPr>
        </p:nvSpPr>
        <p:spPr/>
        <p:txBody>
          <a:bodyPr/>
          <a:lstStyle/>
          <a:p>
            <a:r>
              <a:rPr lang="en-IN" dirty="0"/>
              <a:t>3. PROBLEM STATEMENT</a:t>
            </a:r>
          </a:p>
        </p:txBody>
      </p:sp>
      <p:sp>
        <p:nvSpPr>
          <p:cNvPr id="3" name="Content Placeholder 2">
            <a:extLst>
              <a:ext uri="{FF2B5EF4-FFF2-40B4-BE49-F238E27FC236}">
                <a16:creationId xmlns:a16="http://schemas.microsoft.com/office/drawing/2014/main" id="{7AE66405-0023-043F-2E22-822E569844D0}"/>
              </a:ext>
            </a:extLst>
          </p:cNvPr>
          <p:cNvSpPr>
            <a:spLocks noGrp="1"/>
          </p:cNvSpPr>
          <p:nvPr>
            <p:ph idx="1"/>
          </p:nvPr>
        </p:nvSpPr>
        <p:spPr/>
        <p:txBody>
          <a:bodyPr>
            <a:normAutofit/>
          </a:bodyPr>
          <a:lstStyle/>
          <a:p>
            <a:r>
              <a:rPr lang="en-US" sz="2400" dirty="0"/>
              <a:t>The goal is to develop a predictive model that determines whether a passenger survived the Titanic disaster based on available features. The problem is a binary classification task (Survived = 1, Not Survived = 0).</a:t>
            </a:r>
            <a:endParaRPr lang="en-IN" sz="2400" dirty="0"/>
          </a:p>
        </p:txBody>
      </p:sp>
    </p:spTree>
    <p:extLst>
      <p:ext uri="{BB962C8B-B14F-4D97-AF65-F5344CB8AC3E}">
        <p14:creationId xmlns:p14="http://schemas.microsoft.com/office/powerpoint/2010/main" val="4270894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D0732-CF73-C12B-F26E-0FD97E3746AC}"/>
              </a:ext>
            </a:extLst>
          </p:cNvPr>
          <p:cNvSpPr>
            <a:spLocks noGrp="1"/>
          </p:cNvSpPr>
          <p:nvPr>
            <p:ph type="title"/>
          </p:nvPr>
        </p:nvSpPr>
        <p:spPr/>
        <p:txBody>
          <a:bodyPr/>
          <a:lstStyle/>
          <a:p>
            <a:r>
              <a:rPr lang="en-IN" dirty="0"/>
              <a:t>4. DATASET DESCRIPTION</a:t>
            </a:r>
          </a:p>
        </p:txBody>
      </p:sp>
      <p:sp>
        <p:nvSpPr>
          <p:cNvPr id="3" name="Content Placeholder 2">
            <a:extLst>
              <a:ext uri="{FF2B5EF4-FFF2-40B4-BE49-F238E27FC236}">
                <a16:creationId xmlns:a16="http://schemas.microsoft.com/office/drawing/2014/main" id="{FE1DDDF7-E626-F06B-2DB4-F1E1F0DF4CB1}"/>
              </a:ext>
            </a:extLst>
          </p:cNvPr>
          <p:cNvSpPr>
            <a:spLocks noGrp="1"/>
          </p:cNvSpPr>
          <p:nvPr>
            <p:ph idx="1"/>
          </p:nvPr>
        </p:nvSpPr>
        <p:spPr/>
        <p:txBody>
          <a:bodyPr>
            <a:normAutofit fontScale="77500" lnSpcReduction="20000"/>
          </a:bodyPr>
          <a:lstStyle/>
          <a:p>
            <a:r>
              <a:rPr lang="en-IN" dirty="0"/>
              <a:t>The dataset is obtained from Kaggle Titanic dataset and includes the following features:</a:t>
            </a:r>
          </a:p>
          <a:p>
            <a:r>
              <a:rPr lang="en-IN" dirty="0" err="1"/>
              <a:t>PassengerId</a:t>
            </a:r>
            <a:r>
              <a:rPr lang="en-IN" dirty="0"/>
              <a:t> </a:t>
            </a:r>
          </a:p>
          <a:p>
            <a:r>
              <a:rPr lang="en-IN" dirty="0"/>
              <a:t>Survived (Target Variable) </a:t>
            </a:r>
          </a:p>
          <a:p>
            <a:r>
              <a:rPr lang="en-IN" dirty="0" err="1"/>
              <a:t>Pclass</a:t>
            </a:r>
            <a:r>
              <a:rPr lang="en-IN" dirty="0"/>
              <a:t> (Ticket class) </a:t>
            </a:r>
          </a:p>
          <a:p>
            <a:r>
              <a:rPr lang="en-IN" dirty="0"/>
              <a:t>Name </a:t>
            </a:r>
          </a:p>
          <a:p>
            <a:r>
              <a:rPr lang="en-IN" dirty="0"/>
              <a:t>Sex </a:t>
            </a:r>
          </a:p>
          <a:p>
            <a:r>
              <a:rPr lang="en-IN" dirty="0"/>
              <a:t>Age </a:t>
            </a:r>
          </a:p>
          <a:p>
            <a:r>
              <a:rPr lang="en-IN" dirty="0" err="1"/>
              <a:t>SibSp</a:t>
            </a:r>
            <a:r>
              <a:rPr lang="en-IN" dirty="0"/>
              <a:t> (Siblings/Spouses aboard) </a:t>
            </a:r>
          </a:p>
          <a:p>
            <a:r>
              <a:rPr lang="en-IN" dirty="0"/>
              <a:t>Parch (Parents/Children aboard) </a:t>
            </a:r>
          </a:p>
          <a:p>
            <a:r>
              <a:rPr lang="en-IN" dirty="0"/>
              <a:t>Ticket </a:t>
            </a:r>
          </a:p>
          <a:p>
            <a:r>
              <a:rPr lang="en-IN" dirty="0"/>
              <a:t>Fare </a:t>
            </a:r>
          </a:p>
          <a:p>
            <a:r>
              <a:rPr lang="en-IN" dirty="0"/>
              <a:t>Cabin </a:t>
            </a:r>
          </a:p>
          <a:p>
            <a:r>
              <a:rPr lang="en-IN" dirty="0"/>
              <a:t>Embarked</a:t>
            </a:r>
          </a:p>
          <a:p>
            <a:endParaRPr lang="en-IN" dirty="0"/>
          </a:p>
        </p:txBody>
      </p:sp>
    </p:spTree>
    <p:extLst>
      <p:ext uri="{BB962C8B-B14F-4D97-AF65-F5344CB8AC3E}">
        <p14:creationId xmlns:p14="http://schemas.microsoft.com/office/powerpoint/2010/main" val="3964002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A4564-F3A9-3B49-5DB5-E76A9FC80305}"/>
              </a:ext>
            </a:extLst>
          </p:cNvPr>
          <p:cNvSpPr>
            <a:spLocks noGrp="1"/>
          </p:cNvSpPr>
          <p:nvPr>
            <p:ph type="title"/>
          </p:nvPr>
        </p:nvSpPr>
        <p:spPr/>
        <p:txBody>
          <a:bodyPr/>
          <a:lstStyle/>
          <a:p>
            <a:r>
              <a:rPr lang="en-IN" dirty="0"/>
              <a:t>5. DATA PREPROCESSING</a:t>
            </a:r>
          </a:p>
        </p:txBody>
      </p:sp>
      <p:sp>
        <p:nvSpPr>
          <p:cNvPr id="3" name="Content Placeholder 2">
            <a:extLst>
              <a:ext uri="{FF2B5EF4-FFF2-40B4-BE49-F238E27FC236}">
                <a16:creationId xmlns:a16="http://schemas.microsoft.com/office/drawing/2014/main" id="{E60DBEC7-559D-95D4-0402-687AE06C23A8}"/>
              </a:ext>
            </a:extLst>
          </p:cNvPr>
          <p:cNvSpPr>
            <a:spLocks noGrp="1"/>
          </p:cNvSpPr>
          <p:nvPr>
            <p:ph idx="1"/>
          </p:nvPr>
        </p:nvSpPr>
        <p:spPr/>
        <p:txBody>
          <a:bodyPr>
            <a:normAutofit/>
          </a:bodyPr>
          <a:lstStyle/>
          <a:p>
            <a:r>
              <a:rPr lang="en-US" sz="2400" dirty="0"/>
              <a:t>Data preprocessing steps include:</a:t>
            </a:r>
          </a:p>
          <a:p>
            <a:r>
              <a:rPr lang="en-US" sz="2400" dirty="0"/>
              <a:t>Handling missing values in Age, Cabin, and Embarked </a:t>
            </a:r>
          </a:p>
          <a:p>
            <a:r>
              <a:rPr lang="en-US" sz="2400" dirty="0"/>
              <a:t>Encoding categorical variables such as Sex and Embarked </a:t>
            </a:r>
          </a:p>
          <a:p>
            <a:r>
              <a:rPr lang="en-US" sz="2400" dirty="0"/>
              <a:t>Removing irrelevant columns like Name, Ticket, and Cabin </a:t>
            </a:r>
          </a:p>
          <a:p>
            <a:r>
              <a:rPr lang="en-US" sz="2400" dirty="0"/>
              <a:t>Feature transformation and scaling</a:t>
            </a:r>
          </a:p>
          <a:p>
            <a:endParaRPr lang="en-IN" sz="2400" dirty="0"/>
          </a:p>
        </p:txBody>
      </p:sp>
    </p:spTree>
    <p:extLst>
      <p:ext uri="{BB962C8B-B14F-4D97-AF65-F5344CB8AC3E}">
        <p14:creationId xmlns:p14="http://schemas.microsoft.com/office/powerpoint/2010/main" val="1945998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085B-73B3-F76E-A84E-D463B5960D5A}"/>
              </a:ext>
            </a:extLst>
          </p:cNvPr>
          <p:cNvSpPr>
            <a:spLocks noGrp="1"/>
          </p:cNvSpPr>
          <p:nvPr>
            <p:ph type="title"/>
          </p:nvPr>
        </p:nvSpPr>
        <p:spPr/>
        <p:txBody>
          <a:bodyPr/>
          <a:lstStyle/>
          <a:p>
            <a:r>
              <a:rPr lang="en-US" dirty="0"/>
              <a:t>6. EXPLORATORY DATA ANALYSIS (EDA</a:t>
            </a:r>
            <a:endParaRPr lang="en-IN" dirty="0"/>
          </a:p>
        </p:txBody>
      </p:sp>
      <p:sp>
        <p:nvSpPr>
          <p:cNvPr id="3" name="Content Placeholder 2">
            <a:extLst>
              <a:ext uri="{FF2B5EF4-FFF2-40B4-BE49-F238E27FC236}">
                <a16:creationId xmlns:a16="http://schemas.microsoft.com/office/drawing/2014/main" id="{0D9C0A7C-EB1D-98DC-F428-8DC898FD19E7}"/>
              </a:ext>
            </a:extLst>
          </p:cNvPr>
          <p:cNvSpPr>
            <a:spLocks noGrp="1"/>
          </p:cNvSpPr>
          <p:nvPr>
            <p:ph idx="1"/>
          </p:nvPr>
        </p:nvSpPr>
        <p:spPr/>
        <p:txBody>
          <a:bodyPr>
            <a:normAutofit/>
          </a:bodyPr>
          <a:lstStyle/>
          <a:p>
            <a:r>
              <a:rPr lang="en-US" sz="2400" dirty="0"/>
              <a:t>EDA was performed to understand relationships between variables:</a:t>
            </a:r>
          </a:p>
          <a:p>
            <a:r>
              <a:rPr lang="en-US" sz="2400" dirty="0"/>
              <a:t>Survival rate comparison based on gender </a:t>
            </a:r>
          </a:p>
          <a:p>
            <a:r>
              <a:rPr lang="en-US" sz="2400" dirty="0"/>
              <a:t>Survival rate based on passenger class </a:t>
            </a:r>
          </a:p>
          <a:p>
            <a:r>
              <a:rPr lang="en-US" sz="2400" dirty="0"/>
              <a:t>Age distribution of passengers </a:t>
            </a:r>
          </a:p>
          <a:p>
            <a:r>
              <a:rPr lang="en-US" sz="2400" dirty="0"/>
              <a:t>Correlation analysis between features </a:t>
            </a:r>
          </a:p>
          <a:p>
            <a:r>
              <a:rPr lang="en-US" sz="2400" dirty="0"/>
              <a:t>Visualization using bar charts, histograms, and heatmaps</a:t>
            </a:r>
          </a:p>
          <a:p>
            <a:endParaRPr lang="en-IN" sz="2400" dirty="0"/>
          </a:p>
        </p:txBody>
      </p:sp>
    </p:spTree>
    <p:extLst>
      <p:ext uri="{BB962C8B-B14F-4D97-AF65-F5344CB8AC3E}">
        <p14:creationId xmlns:p14="http://schemas.microsoft.com/office/powerpoint/2010/main" val="814223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9B895-14DA-B8E3-7658-6B2E9BA0C359}"/>
              </a:ext>
            </a:extLst>
          </p:cNvPr>
          <p:cNvSpPr>
            <a:spLocks noGrp="1"/>
          </p:cNvSpPr>
          <p:nvPr>
            <p:ph type="title"/>
          </p:nvPr>
        </p:nvSpPr>
        <p:spPr/>
        <p:txBody>
          <a:bodyPr/>
          <a:lstStyle/>
          <a:p>
            <a:r>
              <a:rPr lang="en-IN" dirty="0"/>
              <a:t>7. FEATURE ENGINEERING</a:t>
            </a:r>
          </a:p>
        </p:txBody>
      </p:sp>
      <p:sp>
        <p:nvSpPr>
          <p:cNvPr id="3" name="Content Placeholder 2">
            <a:extLst>
              <a:ext uri="{FF2B5EF4-FFF2-40B4-BE49-F238E27FC236}">
                <a16:creationId xmlns:a16="http://schemas.microsoft.com/office/drawing/2014/main" id="{FAA8F905-18EF-E717-84D1-7F85F32F706A}"/>
              </a:ext>
            </a:extLst>
          </p:cNvPr>
          <p:cNvSpPr>
            <a:spLocks noGrp="1"/>
          </p:cNvSpPr>
          <p:nvPr>
            <p:ph idx="1"/>
          </p:nvPr>
        </p:nvSpPr>
        <p:spPr/>
        <p:txBody>
          <a:bodyPr>
            <a:normAutofit/>
          </a:bodyPr>
          <a:lstStyle/>
          <a:p>
            <a:r>
              <a:rPr lang="en-US" sz="2400" dirty="0"/>
              <a:t>New features were created to improve model performance:</a:t>
            </a:r>
          </a:p>
          <a:p>
            <a:r>
              <a:rPr lang="en-US" sz="2400" dirty="0" err="1"/>
              <a:t>FamilySize</a:t>
            </a:r>
            <a:r>
              <a:rPr lang="en-US" sz="2400" dirty="0"/>
              <a:t> = </a:t>
            </a:r>
            <a:r>
              <a:rPr lang="en-US" sz="2400" dirty="0" err="1"/>
              <a:t>SibSp</a:t>
            </a:r>
            <a:r>
              <a:rPr lang="en-US" sz="2400" dirty="0"/>
              <a:t> + Parch + 1 </a:t>
            </a:r>
          </a:p>
          <a:p>
            <a:r>
              <a:rPr lang="en-US" sz="2400" dirty="0"/>
              <a:t>Conversion of categorical variables into numerical format </a:t>
            </a:r>
          </a:p>
          <a:p>
            <a:r>
              <a:rPr lang="en-US" sz="2400" dirty="0"/>
              <a:t>Selection of important features for training </a:t>
            </a:r>
          </a:p>
          <a:p>
            <a:endParaRPr lang="en-IN" sz="2400" dirty="0"/>
          </a:p>
        </p:txBody>
      </p:sp>
    </p:spTree>
    <p:extLst>
      <p:ext uri="{BB962C8B-B14F-4D97-AF65-F5344CB8AC3E}">
        <p14:creationId xmlns:p14="http://schemas.microsoft.com/office/powerpoint/2010/main" val="1376330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0DC34-C8CD-1CE6-F535-8DD9C6737D41}"/>
              </a:ext>
            </a:extLst>
          </p:cNvPr>
          <p:cNvSpPr>
            <a:spLocks noGrp="1"/>
          </p:cNvSpPr>
          <p:nvPr>
            <p:ph type="title"/>
          </p:nvPr>
        </p:nvSpPr>
        <p:spPr/>
        <p:txBody>
          <a:bodyPr/>
          <a:lstStyle/>
          <a:p>
            <a:r>
              <a:rPr lang="en-IN" b="1" dirty="0"/>
              <a:t>8. MODEL BUILDING</a:t>
            </a:r>
            <a:br>
              <a:rPr lang="en-IN" b="1" dirty="0"/>
            </a:br>
            <a:endParaRPr lang="en-IN" dirty="0"/>
          </a:p>
        </p:txBody>
      </p:sp>
      <p:sp>
        <p:nvSpPr>
          <p:cNvPr id="3" name="Content Placeholder 2">
            <a:extLst>
              <a:ext uri="{FF2B5EF4-FFF2-40B4-BE49-F238E27FC236}">
                <a16:creationId xmlns:a16="http://schemas.microsoft.com/office/drawing/2014/main" id="{E9E6733C-0A3F-D4CB-56D2-78A6A40CC68F}"/>
              </a:ext>
            </a:extLst>
          </p:cNvPr>
          <p:cNvSpPr>
            <a:spLocks noGrp="1"/>
          </p:cNvSpPr>
          <p:nvPr>
            <p:ph idx="1"/>
          </p:nvPr>
        </p:nvSpPr>
        <p:spPr/>
        <p:txBody>
          <a:bodyPr>
            <a:normAutofit/>
          </a:bodyPr>
          <a:lstStyle/>
          <a:p>
            <a:r>
              <a:rPr lang="en-US" sz="2400" dirty="0"/>
              <a:t>Machine Learning algorithms applied:</a:t>
            </a:r>
          </a:p>
          <a:p>
            <a:r>
              <a:rPr lang="en-US" sz="2400" dirty="0"/>
              <a:t>Logistic Regression </a:t>
            </a:r>
          </a:p>
          <a:p>
            <a:r>
              <a:rPr lang="en-US" sz="2400" dirty="0"/>
              <a:t>Decision Tree Classifier </a:t>
            </a:r>
          </a:p>
          <a:p>
            <a:r>
              <a:rPr lang="en-US" sz="2400" dirty="0"/>
              <a:t>Random Forest Classifier </a:t>
            </a:r>
          </a:p>
          <a:p>
            <a:r>
              <a:rPr lang="en-US" sz="2400" dirty="0"/>
              <a:t>Dataset is split into training and testing sets to evaluate model performance.</a:t>
            </a:r>
          </a:p>
          <a:p>
            <a:endParaRPr lang="en-IN" sz="2400" dirty="0"/>
          </a:p>
        </p:txBody>
      </p:sp>
    </p:spTree>
    <p:extLst>
      <p:ext uri="{BB962C8B-B14F-4D97-AF65-F5344CB8AC3E}">
        <p14:creationId xmlns:p14="http://schemas.microsoft.com/office/powerpoint/2010/main" val="510610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92350-B684-3FB1-3352-E28E28F9ED5E}"/>
              </a:ext>
            </a:extLst>
          </p:cNvPr>
          <p:cNvSpPr>
            <a:spLocks noGrp="1"/>
          </p:cNvSpPr>
          <p:nvPr>
            <p:ph type="title"/>
          </p:nvPr>
        </p:nvSpPr>
        <p:spPr/>
        <p:txBody>
          <a:bodyPr/>
          <a:lstStyle/>
          <a:p>
            <a:r>
              <a:rPr lang="en-IN" dirty="0"/>
              <a:t>9. MODEL EVALUATION</a:t>
            </a:r>
          </a:p>
        </p:txBody>
      </p:sp>
      <p:sp>
        <p:nvSpPr>
          <p:cNvPr id="3" name="Content Placeholder 2">
            <a:extLst>
              <a:ext uri="{FF2B5EF4-FFF2-40B4-BE49-F238E27FC236}">
                <a16:creationId xmlns:a16="http://schemas.microsoft.com/office/drawing/2014/main" id="{E4014EAE-9522-213A-4F54-5A18E24304D1}"/>
              </a:ext>
            </a:extLst>
          </p:cNvPr>
          <p:cNvSpPr>
            <a:spLocks noGrp="1"/>
          </p:cNvSpPr>
          <p:nvPr>
            <p:ph idx="1"/>
          </p:nvPr>
        </p:nvSpPr>
        <p:spPr/>
        <p:txBody>
          <a:bodyPr>
            <a:normAutofit/>
          </a:bodyPr>
          <a:lstStyle/>
          <a:p>
            <a:r>
              <a:rPr lang="en-US" sz="2400" dirty="0"/>
              <a:t>The models were evaluated using:</a:t>
            </a:r>
          </a:p>
          <a:p>
            <a:r>
              <a:rPr lang="en-US" sz="2400" dirty="0"/>
              <a:t>Accuracy Score </a:t>
            </a:r>
          </a:p>
          <a:p>
            <a:r>
              <a:rPr lang="en-US" sz="2400" dirty="0"/>
              <a:t>Confusion Matrix </a:t>
            </a:r>
          </a:p>
          <a:p>
            <a:r>
              <a:rPr lang="en-US" sz="2400" dirty="0"/>
              <a:t>Precision, Recall, and F1 Score </a:t>
            </a:r>
          </a:p>
          <a:p>
            <a:r>
              <a:rPr lang="en-US" sz="2400" dirty="0"/>
              <a:t>Among all models, Random Forest performed better in terms of accuracy and stability.</a:t>
            </a:r>
          </a:p>
          <a:p>
            <a:pPr marL="0" indent="0">
              <a:buNone/>
            </a:pPr>
            <a:endParaRPr lang="en-IN" sz="2400" dirty="0"/>
          </a:p>
        </p:txBody>
      </p:sp>
    </p:spTree>
    <p:extLst>
      <p:ext uri="{BB962C8B-B14F-4D97-AF65-F5344CB8AC3E}">
        <p14:creationId xmlns:p14="http://schemas.microsoft.com/office/powerpoint/2010/main" val="3539978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C05BE-79D1-459E-BBD5-988E9245655D}"/>
              </a:ext>
            </a:extLst>
          </p:cNvPr>
          <p:cNvSpPr>
            <a:spLocks noGrp="1"/>
          </p:cNvSpPr>
          <p:nvPr>
            <p:ph type="title"/>
          </p:nvPr>
        </p:nvSpPr>
        <p:spPr/>
        <p:txBody>
          <a:bodyPr/>
          <a:lstStyle/>
          <a:p>
            <a:r>
              <a:rPr lang="en-IN" b="1" dirty="0"/>
              <a:t>10. RESULTS AND DISCUSSION</a:t>
            </a:r>
            <a:br>
              <a:rPr lang="en-IN" b="1" dirty="0"/>
            </a:br>
            <a:endParaRPr lang="en-IN" dirty="0"/>
          </a:p>
        </p:txBody>
      </p:sp>
      <p:sp>
        <p:nvSpPr>
          <p:cNvPr id="3" name="Content Placeholder 2">
            <a:extLst>
              <a:ext uri="{FF2B5EF4-FFF2-40B4-BE49-F238E27FC236}">
                <a16:creationId xmlns:a16="http://schemas.microsoft.com/office/drawing/2014/main" id="{345E3873-EEB4-E704-EA5C-B36825730089}"/>
              </a:ext>
            </a:extLst>
          </p:cNvPr>
          <p:cNvSpPr>
            <a:spLocks noGrp="1"/>
          </p:cNvSpPr>
          <p:nvPr>
            <p:ph idx="1"/>
          </p:nvPr>
        </p:nvSpPr>
        <p:spPr/>
        <p:txBody>
          <a:bodyPr>
            <a:normAutofit/>
          </a:bodyPr>
          <a:lstStyle/>
          <a:p>
            <a:r>
              <a:rPr lang="en-US" sz="2400" dirty="0"/>
              <a:t>The model successfully predicts survival with good accuracy. Key factors influencing survival are:</a:t>
            </a:r>
          </a:p>
          <a:p>
            <a:r>
              <a:rPr lang="en-US" sz="2400" dirty="0"/>
              <a:t>Gender (Females had higher survival rate) </a:t>
            </a:r>
          </a:p>
          <a:p>
            <a:r>
              <a:rPr lang="en-US" sz="2400" dirty="0"/>
              <a:t>Passenger Class (Higher class had better survival chances) </a:t>
            </a:r>
          </a:p>
          <a:p>
            <a:r>
              <a:rPr lang="en-US" sz="2400" dirty="0"/>
              <a:t>Age (Children had higher survival probability) </a:t>
            </a:r>
          </a:p>
          <a:p>
            <a:endParaRPr lang="en-IN" sz="2400" dirty="0"/>
          </a:p>
        </p:txBody>
      </p:sp>
    </p:spTree>
    <p:extLst>
      <p:ext uri="{BB962C8B-B14F-4D97-AF65-F5344CB8AC3E}">
        <p14:creationId xmlns:p14="http://schemas.microsoft.com/office/powerpoint/2010/main" val="850179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C3DDD-7113-2BD1-C388-15D0DDA1116E}"/>
              </a:ext>
            </a:extLst>
          </p:cNvPr>
          <p:cNvSpPr>
            <a:spLocks noGrp="1"/>
          </p:cNvSpPr>
          <p:nvPr>
            <p:ph type="title"/>
          </p:nvPr>
        </p:nvSpPr>
        <p:spPr>
          <a:xfrm>
            <a:off x="811549" y="750143"/>
            <a:ext cx="8596668" cy="1320800"/>
          </a:xfrm>
        </p:spPr>
        <p:txBody>
          <a:bodyPr/>
          <a:lstStyle/>
          <a:p>
            <a:r>
              <a:rPr lang="en-IN" dirty="0"/>
              <a:t>11. CONCLUSION</a:t>
            </a:r>
          </a:p>
        </p:txBody>
      </p:sp>
      <p:sp>
        <p:nvSpPr>
          <p:cNvPr id="3" name="Content Placeholder 2">
            <a:extLst>
              <a:ext uri="{FF2B5EF4-FFF2-40B4-BE49-F238E27FC236}">
                <a16:creationId xmlns:a16="http://schemas.microsoft.com/office/drawing/2014/main" id="{96BECBFB-96FC-62A4-21C2-CD79A2207FD5}"/>
              </a:ext>
            </a:extLst>
          </p:cNvPr>
          <p:cNvSpPr>
            <a:spLocks noGrp="1"/>
          </p:cNvSpPr>
          <p:nvPr>
            <p:ph idx="1"/>
          </p:nvPr>
        </p:nvSpPr>
        <p:spPr>
          <a:xfrm>
            <a:off x="811549" y="2227084"/>
            <a:ext cx="8596668" cy="3880773"/>
          </a:xfrm>
        </p:spPr>
        <p:txBody>
          <a:bodyPr>
            <a:normAutofit/>
          </a:bodyPr>
          <a:lstStyle/>
          <a:p>
            <a:r>
              <a:rPr lang="en-US" sz="2400" dirty="0"/>
              <a:t>This project demonstrates the application of Machine Learning in predicting survival outcomes. The model helps understand important factors affecting survival and achieves good prediction performance.</a:t>
            </a:r>
            <a:endParaRPr lang="en-IN" sz="2400" dirty="0"/>
          </a:p>
        </p:txBody>
      </p:sp>
    </p:spTree>
    <p:extLst>
      <p:ext uri="{BB962C8B-B14F-4D97-AF65-F5344CB8AC3E}">
        <p14:creationId xmlns:p14="http://schemas.microsoft.com/office/powerpoint/2010/main" val="1514215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C1EBC-6416-69C5-20C9-D1F2CAAFCB79}"/>
              </a:ext>
            </a:extLst>
          </p:cNvPr>
          <p:cNvSpPr>
            <a:spLocks noGrp="1"/>
          </p:cNvSpPr>
          <p:nvPr>
            <p:ph type="title"/>
          </p:nvPr>
        </p:nvSpPr>
        <p:spPr>
          <a:xfrm>
            <a:off x="-165348" y="681126"/>
            <a:ext cx="8596668" cy="1320800"/>
          </a:xfrm>
        </p:spPr>
        <p:txBody>
          <a:bodyPr/>
          <a:lstStyle/>
          <a:p>
            <a:pPr algn="ctr"/>
            <a:r>
              <a:rPr lang="en-IN" dirty="0"/>
              <a:t>12. FUTURE ENHANCEMENTS</a:t>
            </a:r>
          </a:p>
        </p:txBody>
      </p:sp>
      <p:sp>
        <p:nvSpPr>
          <p:cNvPr id="4" name="Rectangle 1">
            <a:extLst>
              <a:ext uri="{FF2B5EF4-FFF2-40B4-BE49-F238E27FC236}">
                <a16:creationId xmlns:a16="http://schemas.microsoft.com/office/drawing/2014/main" id="{44FAAD82-07C0-E49F-8513-33D55140C5A7}"/>
              </a:ext>
            </a:extLst>
          </p:cNvPr>
          <p:cNvSpPr>
            <a:spLocks noGrp="1" noChangeArrowheads="1"/>
          </p:cNvSpPr>
          <p:nvPr>
            <p:ph idx="1"/>
          </p:nvPr>
        </p:nvSpPr>
        <p:spPr bwMode="auto">
          <a:xfrm>
            <a:off x="1228319" y="2127432"/>
            <a:ext cx="844013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Use advanced algorithms like </a:t>
            </a:r>
            <a:r>
              <a:rPr kumimoji="0" lang="en-US" altLang="en-US" sz="2400" b="0" i="0" u="none" strike="noStrike" cap="none" normalizeH="0" baseline="0" dirty="0" err="1">
                <a:ln>
                  <a:noFill/>
                </a:ln>
                <a:solidFill>
                  <a:schemeClr val="tx1"/>
                </a:solidFill>
                <a:effectLst/>
                <a:latin typeface="Arial" panose="020B0604020202020204" pitchFamily="34" charset="0"/>
              </a:rPr>
              <a:t>XGBoost</a:t>
            </a:r>
            <a:r>
              <a:rPr kumimoji="0" lang="en-US" altLang="en-US" sz="2400" b="0" i="0" u="none" strike="noStrike" cap="none" normalizeH="0" baseline="0" dirty="0">
                <a:ln>
                  <a:noFill/>
                </a:ln>
                <a:solidFill>
                  <a:schemeClr val="tx1"/>
                </a:solidFill>
                <a:effectLst/>
                <a:latin typeface="Arial" panose="020B0604020202020204" pitchFamily="34" charset="0"/>
              </a:rPr>
              <a:t> or Neural Networks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Perform hyperparameter tuning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Deploy model using Flask or </a:t>
            </a:r>
            <a:r>
              <a:rPr kumimoji="0" lang="en-US" altLang="en-US" sz="2400" b="0" i="0" u="none" strike="noStrike" cap="none" normalizeH="0" baseline="0" dirty="0" err="1">
                <a:ln>
                  <a:noFill/>
                </a:ln>
                <a:solidFill>
                  <a:schemeClr val="tx1"/>
                </a:solidFill>
                <a:effectLst/>
                <a:latin typeface="Arial" panose="020B0604020202020204" pitchFamily="34" charset="0"/>
              </a:rPr>
              <a:t>Streamlit</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Improve feature engineering techniques </a:t>
            </a:r>
          </a:p>
        </p:txBody>
      </p:sp>
    </p:spTree>
    <p:extLst>
      <p:ext uri="{BB962C8B-B14F-4D97-AF65-F5344CB8AC3E}">
        <p14:creationId xmlns:p14="http://schemas.microsoft.com/office/powerpoint/2010/main" val="182170922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TotalTime>
  <Words>487</Words>
  <Application>Microsoft Office PowerPoint</Application>
  <PresentationFormat>Widescreen</PresentationFormat>
  <Paragraphs>64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Trebuchet MS</vt:lpstr>
      <vt:lpstr>Wingdings 3</vt:lpstr>
      <vt:lpstr>Facet</vt:lpstr>
      <vt:lpstr>Capstone Project &amp; Final Presentation </vt:lpstr>
      <vt:lpstr>1. ABSTRACT</vt:lpstr>
      <vt:lpstr>2. INTRODUCTION</vt:lpstr>
      <vt:lpstr>3. PROBLEM STATEMENT</vt:lpstr>
      <vt:lpstr>4. DATASET DESCRIPTION</vt:lpstr>
      <vt:lpstr>5. DATA PREPROCESSING</vt:lpstr>
      <vt:lpstr>6. EXPLORATORY DATA ANALYSIS (EDA</vt:lpstr>
      <vt:lpstr>7. FEATURE ENGINEERING</vt:lpstr>
      <vt:lpstr>8. MODEL BUILDING </vt:lpstr>
      <vt:lpstr>9. MODEL EVALUATION</vt:lpstr>
      <vt:lpstr>10. RESULTS AND DISCUSSION </vt:lpstr>
      <vt:lpstr>11. CONCLUSION</vt:lpstr>
      <vt:lpstr>12. FUTURE ENHANCEMENTS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Sharath</dc:creator>
  <cp:lastModifiedBy>Sharath</cp:lastModifiedBy>
  <cp:revision>1</cp:revision>
  <dcterms:created xsi:type="dcterms:W3CDTF">2026-07-04T15:41:33Z</dcterms:created>
  <dcterms:modified xsi:type="dcterms:W3CDTF">2026-07-04T15:53:13Z</dcterms:modified>
</cp:coreProperties>
</file>